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lear Sans" panose="020B0604020202020204" charset="0"/>
      <p:regular r:id="rId14"/>
    </p:embeddedFont>
    <p:embeddedFont>
      <p:font typeface="Clear Sans Bold" panose="020B0604020202020204" charset="0"/>
      <p:regular r:id="rId15"/>
    </p:embeddedFont>
    <p:embeddedFont>
      <p:font typeface="Sansation Bold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013428" y="5493885"/>
            <a:ext cx="8261144" cy="2737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Barathgiri C S</a:t>
            </a:r>
          </a:p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Mohanragul G</a:t>
            </a:r>
          </a:p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Karthikeyan S</a:t>
            </a:r>
          </a:p>
          <a:p>
            <a:pPr marL="0" lvl="0" indent="0" algn="ctr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Shevarthna 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07925" y="3991233"/>
            <a:ext cx="896467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78"/>
              </a:lnSpc>
              <a:spcBef>
                <a:spcPct val="0"/>
              </a:spcBef>
            </a:pPr>
            <a:r>
              <a:rPr lang="en-US" sz="7815" b="1" spc="234">
                <a:solidFill>
                  <a:srgbClr val="B2693B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THAT AI 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83449" y="720932"/>
            <a:ext cx="15375851" cy="280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57"/>
              </a:lnSpc>
              <a:spcBef>
                <a:spcPct val="0"/>
              </a:spcBef>
            </a:pPr>
            <a:r>
              <a:rPr lang="en-US" sz="9214" b="1" spc="276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AIRLINE CUSTOMER SUPPORT 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28517" y="2909123"/>
            <a:ext cx="12070701" cy="634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Identify customer request type early in interaction.</a:t>
            </a:r>
          </a:p>
          <a:p>
            <a:pPr algn="l">
              <a:lnSpc>
                <a:spcPts val="5032"/>
              </a:lnSpc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Classify customer utterance into predefined request categories. Enable confirmation feedback loop for improved accuracy.</a:t>
            </a:r>
          </a:p>
          <a:p>
            <a:pPr algn="l">
              <a:lnSpc>
                <a:spcPts val="5032"/>
              </a:lnSpc>
            </a:pPr>
            <a:endParaRPr lang="en-US" sz="3354" spc="10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5032"/>
              </a:lnSpc>
            </a:pPr>
            <a:r>
              <a:rPr lang="en-US" sz="3354" b="1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Key Challenges: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Misclassification handling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Continuous learning from errors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Real-time performance (low latency)</a:t>
            </a:r>
          </a:p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endParaRPr lang="en-US" sz="3354" spc="10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96021" y="595225"/>
            <a:ext cx="13111362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60"/>
              </a:lnSpc>
              <a:spcBef>
                <a:spcPct val="0"/>
              </a:spcBef>
            </a:pPr>
            <a:r>
              <a:rPr lang="en-US" sz="9300" b="1" spc="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PROBLEM DEFINITON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08650" y="3566901"/>
            <a:ext cx="12070701" cy="5072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331" lvl="1" indent="-362166" algn="l">
              <a:lnSpc>
                <a:spcPts val="5032"/>
              </a:lnSpc>
              <a:buAutoNum type="arabicPeriod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Automatically classify customer messages into request categories.</a:t>
            </a:r>
          </a:p>
          <a:p>
            <a:pPr marL="724331" lvl="1" indent="-362166" algn="l">
              <a:lnSpc>
                <a:spcPts val="5032"/>
              </a:lnSpc>
              <a:buAutoNum type="arabicPeriod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Reduce manual intervention.</a:t>
            </a:r>
          </a:p>
          <a:p>
            <a:pPr marL="724331" lvl="1" indent="-362166" algn="l">
              <a:lnSpc>
                <a:spcPts val="5032"/>
              </a:lnSpc>
              <a:buAutoNum type="arabicPeriod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Implement feedback-based model improvement.</a:t>
            </a:r>
          </a:p>
          <a:p>
            <a:pPr marL="724331" lvl="1" indent="-362166" algn="l">
              <a:lnSpc>
                <a:spcPts val="5032"/>
              </a:lnSpc>
              <a:buAutoNum type="arabicPeriod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Ensure fast response (low latency).</a:t>
            </a:r>
          </a:p>
          <a:p>
            <a:pPr marL="724331" lvl="1" indent="-362166" algn="l">
              <a:lnSpc>
                <a:spcPts val="5032"/>
              </a:lnSpc>
              <a:spcBef>
                <a:spcPct val="0"/>
              </a:spcBef>
              <a:buAutoNum type="arabicPeriod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Maintain a database of incorrect classifications for retraining.</a:t>
            </a:r>
          </a:p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endParaRPr lang="en-US" sz="3354" spc="10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96021" y="1019175"/>
            <a:ext cx="11689257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60"/>
              </a:lnSpc>
              <a:spcBef>
                <a:spcPct val="0"/>
              </a:spcBef>
            </a:pPr>
            <a:r>
              <a:rPr lang="en-US" sz="9300" b="1" spc="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08650" y="2928726"/>
            <a:ext cx="12070701" cy="634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3354" b="1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Model Used: DistilBERT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</a:p>
          <a:p>
            <a:pPr algn="l">
              <a:lnSpc>
                <a:spcPts val="5032"/>
              </a:lnSpc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(lightweight transformer for text classification)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Training Data: Synthetic Customer chat transcripts categorized by request type.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Steps:</a:t>
            </a:r>
          </a:p>
          <a:p>
            <a:pPr marL="1448662" lvl="2" indent="-482887" algn="l">
              <a:lnSpc>
                <a:spcPts val="5032"/>
              </a:lnSpc>
              <a:buAutoNum type="alphaLcPeriod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Data Preprocessing</a:t>
            </a:r>
          </a:p>
          <a:p>
            <a:pPr marL="1448662" lvl="2" indent="-482887" algn="l">
              <a:lnSpc>
                <a:spcPts val="5032"/>
              </a:lnSpc>
              <a:buAutoNum type="alphaLcPeriod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Fine-tuning DistilBERT</a:t>
            </a:r>
          </a:p>
          <a:p>
            <a:pPr marL="1448662" lvl="2" indent="-482887" algn="l">
              <a:lnSpc>
                <a:spcPts val="5032"/>
              </a:lnSpc>
              <a:buAutoNum type="alphaLcPeriod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Model Evaluation</a:t>
            </a:r>
          </a:p>
          <a:p>
            <a:pPr marL="1448662" lvl="2" indent="-482887" algn="l">
              <a:lnSpc>
                <a:spcPts val="5032"/>
              </a:lnSpc>
              <a:buAutoNum type="alphaLcPeriod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Continuous retraining from incorrect classifications</a:t>
            </a:r>
          </a:p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endParaRPr lang="en-US" sz="3354" spc="10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25987" y="224923"/>
            <a:ext cx="12594266" cy="27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spc="9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MODEL AND TRAINING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61392" y="536324"/>
            <a:ext cx="11689257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90"/>
              </a:lnSpc>
              <a:spcBef>
                <a:spcPct val="0"/>
              </a:spcBef>
            </a:pPr>
            <a:r>
              <a:rPr lang="en-US" sz="6158" b="1" spc="6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CONFIRMATION MODULE LOGIC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27257" y="2327024"/>
            <a:ext cx="11761760" cy="740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5"/>
              </a:lnSpc>
            </a:pPr>
            <a:r>
              <a:rPr lang="en-US" sz="3596" spc="107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Confidence LevelAction from Model</a:t>
            </a:r>
          </a:p>
          <a:p>
            <a:pPr algn="l">
              <a:lnSpc>
                <a:spcPts val="5395"/>
              </a:lnSpc>
            </a:pPr>
            <a:endParaRPr lang="en-US" sz="3596" spc="107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5395"/>
              </a:lnSpc>
            </a:pPr>
            <a:r>
              <a:rPr lang="en-US" sz="3596" b="1" spc="107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High (≥ Threshold)</a:t>
            </a:r>
          </a:p>
          <a:p>
            <a:pPr algn="l">
              <a:lnSpc>
                <a:spcPts val="5395"/>
              </a:lnSpc>
            </a:pPr>
            <a:r>
              <a:rPr lang="en-US" sz="3596" spc="107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Confirm top prediction with the user</a:t>
            </a:r>
          </a:p>
          <a:p>
            <a:pPr algn="l">
              <a:lnSpc>
                <a:spcPts val="5395"/>
              </a:lnSpc>
            </a:pPr>
            <a:r>
              <a:rPr lang="en-US" sz="3596" b="1" spc="107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Medium</a:t>
            </a:r>
          </a:p>
          <a:p>
            <a:pPr algn="l">
              <a:lnSpc>
                <a:spcPts val="5395"/>
              </a:lnSpc>
            </a:pPr>
            <a:r>
              <a:rPr lang="en-US" sz="3596" spc="107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Show the top 2 predictions for user confirmation</a:t>
            </a:r>
          </a:p>
          <a:p>
            <a:pPr algn="l">
              <a:lnSpc>
                <a:spcPts val="5395"/>
              </a:lnSpc>
            </a:pPr>
            <a:r>
              <a:rPr lang="en-US" sz="3596" b="1" spc="107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Low (≤ Threshold)</a:t>
            </a:r>
          </a:p>
          <a:p>
            <a:pPr algn="l">
              <a:lnSpc>
                <a:spcPts val="5395"/>
              </a:lnSpc>
            </a:pPr>
            <a:r>
              <a:rPr lang="en-US" sz="3596" spc="107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Mark as irrelevant → Restructure → Loop once</a:t>
            </a:r>
          </a:p>
          <a:p>
            <a:pPr algn="l">
              <a:lnSpc>
                <a:spcPts val="5395"/>
              </a:lnSpc>
            </a:pPr>
            <a:r>
              <a:rPr lang="en-US" sz="3596" b="1" spc="107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Human Intervention</a:t>
            </a:r>
          </a:p>
          <a:p>
            <a:pPr algn="l">
              <a:lnSpc>
                <a:spcPts val="5395"/>
              </a:lnSpc>
            </a:pPr>
            <a:r>
              <a:rPr lang="en-US" sz="3596" spc="107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Used when confirmation fails or is uncertain</a:t>
            </a:r>
          </a:p>
          <a:p>
            <a:pPr marL="0" lvl="0" indent="0" algn="l">
              <a:lnSpc>
                <a:spcPts val="5395"/>
              </a:lnSpc>
              <a:spcBef>
                <a:spcPct val="0"/>
              </a:spcBef>
            </a:pPr>
            <a:endParaRPr lang="en-US" sz="3596" spc="107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559487" y="1427489"/>
            <a:ext cx="11408761" cy="8299873"/>
          </a:xfrm>
          <a:custGeom>
            <a:avLst/>
            <a:gdLst/>
            <a:ahLst/>
            <a:cxnLst/>
            <a:rect l="l" t="t" r="r" b="b"/>
            <a:pathLst>
              <a:path w="11408761" h="8299873">
                <a:moveTo>
                  <a:pt x="0" y="0"/>
                </a:moveTo>
                <a:lnTo>
                  <a:pt x="11408761" y="0"/>
                </a:lnTo>
                <a:lnTo>
                  <a:pt x="11408761" y="8299873"/>
                </a:lnTo>
                <a:lnTo>
                  <a:pt x="0" y="829987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96021" y="181120"/>
            <a:ext cx="12515231" cy="108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17"/>
              </a:lnSpc>
              <a:spcBef>
                <a:spcPct val="0"/>
              </a:spcBef>
            </a:pPr>
            <a:r>
              <a:rPr lang="en-US" sz="7097" b="1" spc="7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97312" y="3540622"/>
            <a:ext cx="11048359" cy="5072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2"/>
              </a:lnSpc>
            </a:pPr>
            <a:endParaRPr/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Human feedback integrated into the learning process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Incorrect prediction case and its correct label from human feedback → stored in the database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Periodic retraining improves accuracy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Continuous monitoring via performance metrics</a:t>
            </a:r>
          </a:p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endParaRPr lang="en-US" sz="3354" spc="10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98026" y="536324"/>
            <a:ext cx="15561274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60"/>
              </a:lnSpc>
              <a:spcBef>
                <a:spcPct val="0"/>
              </a:spcBef>
            </a:pPr>
            <a:r>
              <a:rPr lang="en-US" sz="9300" b="1" spc="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CONTINUOUS IMPROVEMENT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40837" y="2878549"/>
            <a:ext cx="11006326" cy="4434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Accuracy – Overall correct classifications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Precision / Recall / F1 Score – For each request category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Latency – Time from input to response</a:t>
            </a:r>
          </a:p>
          <a:p>
            <a:pPr marL="724331" lvl="1" indent="-362166" algn="l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User Feedback Accuracy – Agreement rate between bot and user</a:t>
            </a:r>
          </a:p>
          <a:p>
            <a:pPr marL="0" lvl="0" indent="0" algn="l">
              <a:lnSpc>
                <a:spcPts val="5032"/>
              </a:lnSpc>
              <a:spcBef>
                <a:spcPct val="0"/>
              </a:spcBef>
            </a:pPr>
            <a:endParaRPr lang="en-US" sz="3354" spc="10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62952" y="746451"/>
            <a:ext cx="14988628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60"/>
              </a:lnSpc>
              <a:spcBef>
                <a:spcPct val="0"/>
              </a:spcBef>
            </a:pPr>
            <a:r>
              <a:rPr lang="en-US" sz="9300" b="1" spc="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EVALUATION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62831" y="1782061"/>
            <a:ext cx="13562339" cy="7476239"/>
          </a:xfrm>
          <a:custGeom>
            <a:avLst/>
            <a:gdLst/>
            <a:ahLst/>
            <a:cxnLst/>
            <a:rect l="l" t="t" r="r" b="b"/>
            <a:pathLst>
              <a:path w="13562339" h="7476239">
                <a:moveTo>
                  <a:pt x="0" y="0"/>
                </a:moveTo>
                <a:lnTo>
                  <a:pt x="13562338" y="0"/>
                </a:lnTo>
                <a:lnTo>
                  <a:pt x="13562338" y="7476239"/>
                </a:lnTo>
                <a:lnTo>
                  <a:pt x="0" y="74762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99372" y="423775"/>
            <a:ext cx="11689257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60"/>
              </a:lnSpc>
              <a:spcBef>
                <a:spcPct val="0"/>
              </a:spcBef>
            </a:pPr>
            <a:r>
              <a:rPr lang="en-US" sz="9300" b="1" spc="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54515" y="-597749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505454" y="1648927"/>
            <a:ext cx="13277092" cy="7949659"/>
          </a:xfrm>
          <a:custGeom>
            <a:avLst/>
            <a:gdLst/>
            <a:ahLst/>
            <a:cxnLst/>
            <a:rect l="l" t="t" r="r" b="b"/>
            <a:pathLst>
              <a:path w="13277092" h="7949659">
                <a:moveTo>
                  <a:pt x="0" y="0"/>
                </a:moveTo>
                <a:lnTo>
                  <a:pt x="13277092" y="0"/>
                </a:lnTo>
                <a:lnTo>
                  <a:pt x="13277092" y="7949659"/>
                </a:lnTo>
                <a:lnTo>
                  <a:pt x="0" y="79496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99372" y="423775"/>
            <a:ext cx="11689257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60"/>
              </a:lnSpc>
              <a:spcBef>
                <a:spcPct val="0"/>
              </a:spcBef>
            </a:pPr>
            <a:r>
              <a:rPr lang="en-US" sz="9300" b="1" spc="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57280" y="3447623"/>
            <a:ext cx="17493040" cy="3454875"/>
          </a:xfrm>
          <a:custGeom>
            <a:avLst/>
            <a:gdLst/>
            <a:ahLst/>
            <a:cxnLst/>
            <a:rect l="l" t="t" r="r" b="b"/>
            <a:pathLst>
              <a:path w="17493040" h="3454875">
                <a:moveTo>
                  <a:pt x="0" y="0"/>
                </a:moveTo>
                <a:lnTo>
                  <a:pt x="17493040" y="0"/>
                </a:lnTo>
                <a:lnTo>
                  <a:pt x="17493040" y="3454875"/>
                </a:lnTo>
                <a:lnTo>
                  <a:pt x="0" y="3454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99372" y="423775"/>
            <a:ext cx="11689257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60"/>
              </a:lnSpc>
              <a:spcBef>
                <a:spcPct val="0"/>
              </a:spcBef>
            </a:pPr>
            <a:r>
              <a:rPr lang="en-US" sz="9300" b="1" spc="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RETRAINING DATABASE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08650" y="2088166"/>
            <a:ext cx="12070701" cy="6575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3154" spc="9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Our Airline Customer Support Bot successfully automates the classification of customer requests using a lightweight DistilBERT model, ensuring fast and accurate intent recognition.</a:t>
            </a:r>
          </a:p>
          <a:p>
            <a:pPr algn="l">
              <a:lnSpc>
                <a:spcPts val="4732"/>
              </a:lnSpc>
            </a:pPr>
            <a:r>
              <a:rPr lang="en-US" sz="3154" spc="9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By integrating a confirmation feedback loop and continuous learning pipeline, the system improves with each interaction, reducing human intervention and enhancing customer satisfaction.</a:t>
            </a:r>
          </a:p>
          <a:p>
            <a:pPr marL="0" lvl="0" indent="0" algn="l">
              <a:lnSpc>
                <a:spcPts val="4732"/>
              </a:lnSpc>
              <a:spcBef>
                <a:spcPct val="0"/>
              </a:spcBef>
            </a:pPr>
            <a:r>
              <a:rPr lang="en-US" sz="3154" spc="9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model achieves low latency while maintaining strong precision and recall across categories, demonstrating its suitability for real-time airline customer service.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9372" y="423775"/>
            <a:ext cx="11689257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60"/>
              </a:lnSpc>
              <a:spcBef>
                <a:spcPct val="0"/>
              </a:spcBef>
            </a:pPr>
            <a:r>
              <a:rPr lang="en-US" sz="9300" b="1" spc="9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</Words>
  <Application>Microsoft Office PowerPoint</Application>
  <PresentationFormat>Custom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Sansation Bold</vt:lpstr>
      <vt:lpstr>Clear Sans Bold</vt:lpstr>
      <vt:lpstr>Clear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That AI Team</dc:title>
  <cp:lastModifiedBy>Mohan ragul</cp:lastModifiedBy>
  <cp:revision>2</cp:revision>
  <dcterms:created xsi:type="dcterms:W3CDTF">2006-08-16T00:00:00Z</dcterms:created>
  <dcterms:modified xsi:type="dcterms:W3CDTF">2025-10-23T04:31:18Z</dcterms:modified>
  <dc:identifier>DAG2gcwsqTQ</dc:identifier>
</cp:coreProperties>
</file>